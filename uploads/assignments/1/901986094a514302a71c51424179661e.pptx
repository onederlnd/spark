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Pro Teacher ARR</c:v>
                </c:pt>
              </c:strCache>
            </c:strRef>
          </c:tx>
          <c:spPr>
            <a:solidFill>
              <a:srgbClr val="3a7bd5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  <c:pt idx="3">
                  <c:v>Yr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1200</c:v>
                </c:pt>
                <c:pt idx="1">
                  <c:v>9000</c:v>
                </c:pt>
                <c:pt idx="2">
                  <c:v>36000</c:v>
                </c:pt>
                <c:pt idx="3">
                  <c:v>108000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School Plan ARR</c:v>
                </c:pt>
              </c:strCache>
            </c:strRef>
          </c:tx>
          <c:spPr>
            <a:solidFill>
              <a:srgbClr val="f0b429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  <c:pt idx="3">
                  <c:v>Yr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0</c:v>
                </c:pt>
                <c:pt idx="1">
                  <c:v>2500</c:v>
                </c:pt>
                <c:pt idx="2">
                  <c:v>25000</c:v>
                </c:pt>
                <c:pt idx="3">
                  <c:v>125000</c:v>
                </c:pt>
              </c:numCache>
            </c:numRef>
          </c:val>
        </c:ser>
        <c:gapWidth val="50"/>
        <c:overlap val="100"/>
        <c:axId val="64494543"/>
        <c:axId val="11949414"/>
      </c:barChart>
      <c:catAx>
        <c:axId val="6449454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d6e4f7"/>
                </a:solidFill>
                <a:uFillTx/>
                <a:latin typeface="Arial"/>
              </a:defRPr>
            </a:pPr>
          </a:p>
        </c:txPr>
        <c:crossAx val="11949414"/>
        <c:crosses val="autoZero"/>
        <c:auto val="1"/>
        <c:lblAlgn val="ctr"/>
        <c:lblOffset val="100"/>
        <c:noMultiLvlLbl val="0"/>
      </c:catAx>
      <c:valAx>
        <c:axId val="11949414"/>
        <c:scaling>
          <c:orientation val="minMax"/>
        </c:scaling>
        <c:delete val="0"/>
        <c:axPos val="l"/>
        <c:majorGridlines>
          <c:spPr>
            <a:ln w="6480">
              <a:solidFill>
                <a:srgbClr val="1e3a6e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d6e4f7"/>
                </a:solidFill>
                <a:uFillTx/>
                <a:latin typeface="Arial"/>
              </a:defRPr>
            </a:pPr>
          </a:p>
        </c:txPr>
        <c:crossAx val="64494543"/>
        <c:crosses val="autoZero"/>
        <c:crossBetween val="between"/>
      </c:valAx>
      <c:spPr>
        <a:solidFill>
          <a:srgbClr val="162040"/>
        </a:solidFill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d6e4f7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162040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move the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073014E-C619-4638-82F4-C799F05BD4A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FB4B16-8FF9-498F-8F9D-5FCD8B28CE6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B3E54B-F790-41B9-914A-7B744E51120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3F3351-CF8D-4E53-A02C-8EB022F32E3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5F6F27-24F9-4152-BDA7-133F8D9E8F2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4BB80E-2DB9-4C01-BB08-552F55E3CE3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46500F-B034-40A4-9396-A17F44DF116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D6DC95-34DD-457E-B7E0-639517B01EA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96F1A4-D48A-4E56-8D1A-2897661C6A4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BD3CED-9330-49AC-9555-0572CB35680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CAA682-DBEE-4336-946F-572D06E9BA8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1E0708-6125-4D3B-B4CE-94796D0E205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2E516E-1E41-4029-AEF0-2B329C3ACE2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title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image" Target="../media/image6.png"/><Relationship Id="rId8" Type="http://schemas.openxmlformats.org/officeDocument/2006/relationships/image" Target="../media/image6.png"/><Relationship Id="rId9" Type="http://schemas.openxmlformats.org/officeDocument/2006/relationships/image" Target="../media/image6.png"/><Relationship Id="rId10" Type="http://schemas.openxmlformats.org/officeDocument/2006/relationships/image" Target="../media/image6.png"/><Relationship Id="rId11" Type="http://schemas.openxmlformats.org/officeDocument/2006/relationships/image" Target="../media/image6.png"/><Relationship Id="rId12" Type="http://schemas.openxmlformats.org/officeDocument/2006/relationships/image" Target="../media/image6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0" descr="preencoded.png"/>
          <p:cNvPicPr/>
          <p:nvPr/>
        </p:nvPicPr>
        <p:blipFill>
          <a:blip r:embed="rId1"/>
          <a:stretch/>
        </p:blipFill>
        <p:spPr>
          <a:xfrm>
            <a:off x="502920" y="1097280"/>
            <a:ext cx="73116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Text 1"/>
          <p:cNvSpPr/>
          <p:nvPr/>
        </p:nvSpPr>
        <p:spPr>
          <a:xfrm>
            <a:off x="1371600" y="1005840"/>
            <a:ext cx="6400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SparK</a:t>
            </a:r>
            <a:endParaRPr b="0" lang="en-US" sz="7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1371600" y="2011680"/>
            <a:ext cx="6857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2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Safe Learning. Real Community.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3"/>
          <p:cNvSpPr/>
          <p:nvPr/>
        </p:nvSpPr>
        <p:spPr>
          <a:xfrm>
            <a:off x="1371600" y="2697480"/>
            <a:ext cx="5486040" cy="3636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1371600" y="2880360"/>
            <a:ext cx="1919880" cy="347040"/>
          </a:xfrm>
          <a:prstGeom prst="roundRect">
            <a:avLst>
              <a:gd name="adj" fmla="val 26316"/>
            </a:avLst>
          </a:prstGeom>
          <a:solidFill>
            <a:srgbClr val="1a56a0"/>
          </a:solidFill>
          <a:ln w="12700">
            <a:solidFill>
              <a:srgbClr val="1a5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371600" y="288036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COPPA-Safe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3474720" y="2880360"/>
            <a:ext cx="1919880" cy="347040"/>
          </a:xfrm>
          <a:prstGeom prst="roundRect">
            <a:avLst>
              <a:gd name="adj" fmla="val 26316"/>
            </a:avLst>
          </a:prstGeom>
          <a:solidFill>
            <a:srgbClr val="3a7bd5"/>
          </a:solidFill>
          <a:ln w="12700">
            <a:solidFill>
              <a:srgbClr val="3a7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3474720" y="288036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K-12 EdTech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8"/>
          <p:cNvSpPr/>
          <p:nvPr/>
        </p:nvSpPr>
        <p:spPr>
          <a:xfrm>
            <a:off x="5577840" y="2880360"/>
            <a:ext cx="1919880" cy="347040"/>
          </a:xfrm>
          <a:prstGeom prst="roundRect">
            <a:avLst>
              <a:gd name="adj" fmla="val 26316"/>
            </a:avLst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5577840" y="288036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Pre-Seed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1371600" y="43891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Investor Brief  ·  Q2 2026  ·  Confidential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The Problem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457200" y="804600"/>
            <a:ext cx="1096920" cy="543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57200" y="9601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Today's tools force students to choose between structured and safe.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365760" y="1417320"/>
            <a:ext cx="274284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365760" y="1417320"/>
            <a:ext cx="2742840" cy="109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502920" y="16002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LMS Platforms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502920" y="19659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Google Classroom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Canvas · Schoology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502920" y="2468880"/>
            <a:ext cx="2468520" cy="180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502920" y="2560320"/>
            <a:ext cx="24685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Assignment delivery only. No peer interaction. Students are passive recipients.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3246120" y="1417320"/>
            <a:ext cx="274284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3246120" y="1417320"/>
            <a:ext cx="2742840" cy="109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3383280" y="16002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School Social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3383280" y="19659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ClassDojo · Seesaw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3383280" y="2468880"/>
            <a:ext cx="2468520" cy="180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3383280" y="2560320"/>
            <a:ext cx="24685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Communication-focused. Surface-level sharing. No academic depth or discovery.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5"/>
          <p:cNvSpPr/>
          <p:nvPr/>
        </p:nvSpPr>
        <p:spPr>
          <a:xfrm>
            <a:off x="6126480" y="1417320"/>
            <a:ext cx="274284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6"/>
          <p:cNvSpPr/>
          <p:nvPr/>
        </p:nvSpPr>
        <p:spPr>
          <a:xfrm>
            <a:off x="6126480" y="1417320"/>
            <a:ext cx="2742840" cy="109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7"/>
          <p:cNvSpPr/>
          <p:nvPr/>
        </p:nvSpPr>
        <p:spPr>
          <a:xfrm>
            <a:off x="6263640" y="16002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Open Social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6263640" y="19659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Reddit · Discord · TikTok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9"/>
          <p:cNvSpPr/>
          <p:nvPr/>
        </p:nvSpPr>
        <p:spPr>
          <a:xfrm>
            <a:off x="6263640" y="2468880"/>
            <a:ext cx="2468520" cy="180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6263640" y="2560320"/>
            <a:ext cx="24685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Unsafe for minors. No structure. No teacher oversight. No academic value.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1"/>
          <p:cNvSpPr/>
          <p:nvPr/>
        </p:nvSpPr>
        <p:spPr>
          <a:xfrm>
            <a:off x="365760" y="4663440"/>
            <a:ext cx="8412120" cy="347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2"/>
          <p:cNvSpPr/>
          <p:nvPr/>
        </p:nvSpPr>
        <p:spPr>
          <a:xfrm>
            <a:off x="365760" y="46634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No platform combines structure, safety, and peer engagement — until SparK.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45720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Solution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457200" y="804600"/>
            <a:ext cx="1096920" cy="543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457200" y="96012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SparK is the only platform that combines a structured classroom with a safe social feed — built for kids from the ground up.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"/>
          <p:cNvSpPr/>
          <p:nvPr/>
        </p:nvSpPr>
        <p:spPr>
          <a:xfrm>
            <a:off x="365760" y="1508760"/>
            <a:ext cx="3977280" cy="1508400"/>
          </a:xfrm>
          <a:prstGeom prst="rect">
            <a:avLst/>
          </a:prstGeom>
          <a:solidFill>
            <a:srgbClr val="162040"/>
          </a:solidFill>
          <a:ln w="12700">
            <a:solidFill>
              <a:srgbClr val="3a7bd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0" descr="preencoded.png"/>
          <p:cNvPicPr/>
          <p:nvPr/>
        </p:nvPicPr>
        <p:blipFill>
          <a:blip r:embed="rId1"/>
          <a:stretch/>
        </p:blipFill>
        <p:spPr>
          <a:xfrm>
            <a:off x="548640" y="167328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4"/>
          <p:cNvSpPr/>
          <p:nvPr/>
        </p:nvSpPr>
        <p:spPr>
          <a:xfrm>
            <a:off x="1097280" y="16459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Classroom Tools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548640" y="210312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Lessons, assignments, submissions, grading, and discussion threads — all teacher-managed in one place.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4617720" y="1508760"/>
            <a:ext cx="3977280" cy="1508400"/>
          </a:xfrm>
          <a:prstGeom prst="rect">
            <a:avLst/>
          </a:prstGeom>
          <a:solidFill>
            <a:srgbClr val="162040"/>
          </a:solidFill>
          <a:ln w="12700">
            <a:solidFill>
              <a:srgbClr val="3a7bd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1" descr="preencoded.png"/>
          <p:cNvPicPr/>
          <p:nvPr/>
        </p:nvPicPr>
        <p:blipFill>
          <a:blip r:embed="rId2"/>
          <a:stretch/>
        </p:blipFill>
        <p:spPr>
          <a:xfrm>
            <a:off x="4800600" y="167328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7"/>
          <p:cNvSpPr/>
          <p:nvPr/>
        </p:nvSpPr>
        <p:spPr>
          <a:xfrm>
            <a:off x="5349240" y="16459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Curiosity Feed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4800600" y="210312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Students post questions, share projects, vote, reply, and follow peers — like Reddit, built for kids.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9"/>
          <p:cNvSpPr/>
          <p:nvPr/>
        </p:nvSpPr>
        <p:spPr>
          <a:xfrm>
            <a:off x="365760" y="3200400"/>
            <a:ext cx="3977280" cy="1508400"/>
          </a:xfrm>
          <a:prstGeom prst="rect">
            <a:avLst/>
          </a:prstGeom>
          <a:solidFill>
            <a:srgbClr val="162040"/>
          </a:solidFill>
          <a:ln w="12700">
            <a:solidFill>
              <a:srgbClr val="3a7bd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2" descr="preencoded.png"/>
          <p:cNvPicPr/>
          <p:nvPr/>
        </p:nvPicPr>
        <p:blipFill>
          <a:blip r:embed="rId3"/>
          <a:stretch/>
        </p:blipFill>
        <p:spPr>
          <a:xfrm>
            <a:off x="548640" y="33649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10"/>
          <p:cNvSpPr/>
          <p:nvPr/>
        </p:nvSpPr>
        <p:spPr>
          <a:xfrm>
            <a:off x="1097280" y="33375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Safety Layer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548640" y="379476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COPPA-compliant by design. Age-gate, teacher approval, content moderation, rate limiting, and brute force protection.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2"/>
          <p:cNvSpPr/>
          <p:nvPr/>
        </p:nvSpPr>
        <p:spPr>
          <a:xfrm>
            <a:off x="4617720" y="3200400"/>
            <a:ext cx="3977280" cy="1508400"/>
          </a:xfrm>
          <a:prstGeom prst="rect">
            <a:avLst/>
          </a:prstGeom>
          <a:solidFill>
            <a:srgbClr val="162040"/>
          </a:solidFill>
          <a:ln w="12700">
            <a:solidFill>
              <a:srgbClr val="3a7bd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3" descr="preencoded.png"/>
          <p:cNvPicPr/>
          <p:nvPr/>
        </p:nvPicPr>
        <p:blipFill>
          <a:blip r:embed="rId4"/>
          <a:stretch/>
        </p:blipFill>
        <p:spPr>
          <a:xfrm>
            <a:off x="4800600" y="33649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13"/>
          <p:cNvSpPr/>
          <p:nvPr/>
        </p:nvSpPr>
        <p:spPr>
          <a:xfrm>
            <a:off x="5349240" y="33375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Role-Based Access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4"/>
          <p:cNvSpPr/>
          <p:nvPr/>
        </p:nvSpPr>
        <p:spPr>
          <a:xfrm>
            <a:off x="4800600" y="379476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Admin, teacher, student, and parent roles enforced at every route — not just the interface.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45720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Traction &amp; Validation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457200" y="804600"/>
            <a:ext cx="1096920" cy="543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365760" y="960120"/>
            <a:ext cx="4114440" cy="384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502920" y="109728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What's Built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0" descr="preencoded.png"/>
          <p:cNvPicPr/>
          <p:nvPr/>
        </p:nvPicPr>
        <p:blipFill>
          <a:blip r:embed="rId1"/>
          <a:stretch/>
        </p:blipFill>
        <p:spPr>
          <a:xfrm>
            <a:off x="502920" y="15728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4"/>
          <p:cNvSpPr/>
          <p:nvPr/>
        </p:nvSpPr>
        <p:spPr>
          <a:xfrm>
            <a:off x="822960" y="155448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Full social platform (posts, replies, votes, bookmarks)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1" descr="preencoded.png"/>
          <p:cNvPicPr/>
          <p:nvPr/>
        </p:nvPicPr>
        <p:blipFill>
          <a:blip r:embed="rId2"/>
          <a:stretch/>
        </p:blipFill>
        <p:spPr>
          <a:xfrm>
            <a:off x="502920" y="20116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5"/>
          <p:cNvSpPr/>
          <p:nvPr/>
        </p:nvSpPr>
        <p:spPr>
          <a:xfrm>
            <a:off x="822960" y="199332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Classroom system — lessons, assignments, grading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2" descr="preencoded.png"/>
          <p:cNvPicPr/>
          <p:nvPr/>
        </p:nvPicPr>
        <p:blipFill>
          <a:blip r:embed="rId3"/>
          <a:stretch/>
        </p:blipFill>
        <p:spPr>
          <a:xfrm>
            <a:off x="502920" y="24505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6"/>
          <p:cNvSpPr/>
          <p:nvPr/>
        </p:nvSpPr>
        <p:spPr>
          <a:xfrm>
            <a:off x="822960" y="243216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COPPA enforcement + teacher approval workflow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3" descr="preencoded.png"/>
          <p:cNvPicPr/>
          <p:nvPr/>
        </p:nvPicPr>
        <p:blipFill>
          <a:blip r:embed="rId4"/>
          <a:stretch/>
        </p:blipFill>
        <p:spPr>
          <a:xfrm>
            <a:off x="502920" y="28893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7"/>
          <p:cNvSpPr/>
          <p:nvPr/>
        </p:nvSpPr>
        <p:spPr>
          <a:xfrm>
            <a:off x="822960" y="287136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Content moderation queue + report system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4" descr="preencoded.png"/>
          <p:cNvPicPr/>
          <p:nvPr/>
        </p:nvPicPr>
        <p:blipFill>
          <a:blip r:embed="rId5"/>
          <a:stretch/>
        </p:blipFill>
        <p:spPr>
          <a:xfrm>
            <a:off x="502920" y="33285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8"/>
          <p:cNvSpPr/>
          <p:nvPr/>
        </p:nvSpPr>
        <p:spPr>
          <a:xfrm>
            <a:off x="822960" y="331020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Brute force &amp; rate limiting on every route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5" descr="preencoded.png"/>
          <p:cNvPicPr/>
          <p:nvPr/>
        </p:nvPicPr>
        <p:blipFill>
          <a:blip r:embed="rId6"/>
          <a:stretch/>
        </p:blipFill>
        <p:spPr>
          <a:xfrm>
            <a:off x="502920" y="37674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9"/>
          <p:cNvSpPr/>
          <p:nvPr/>
        </p:nvSpPr>
        <p:spPr>
          <a:xfrm>
            <a:off x="822960" y="374904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REST API · Docker · GitHub Actions CI/CD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6" descr="preencoded.png"/>
          <p:cNvPicPr/>
          <p:nvPr/>
        </p:nvPicPr>
        <p:blipFill>
          <a:blip r:embed="rId7"/>
          <a:stretch/>
        </p:blipFill>
        <p:spPr>
          <a:xfrm>
            <a:off x="502920" y="42062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10"/>
          <p:cNvSpPr/>
          <p:nvPr/>
        </p:nvSpPr>
        <p:spPr>
          <a:xfrm>
            <a:off x="822960" y="418788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185-test pytest suite — all passing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1"/>
          <p:cNvSpPr/>
          <p:nvPr/>
        </p:nvSpPr>
        <p:spPr>
          <a:xfrm>
            <a:off x="4663440" y="960120"/>
            <a:ext cx="4114440" cy="17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4800600" y="10972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Teacher Interest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4800600" y="1463040"/>
            <a:ext cx="3840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Multiple teachers have expressed interest in the alpha classroom. Active outreach is ongoing — the first committed classroom is the immediate next milestone.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4"/>
          <p:cNvSpPr/>
          <p:nvPr/>
        </p:nvSpPr>
        <p:spPr>
          <a:xfrm>
            <a:off x="4663440" y="2834640"/>
            <a:ext cx="4114440" cy="17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4800600" y="29718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Alpha Classroom — Q2 2026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4800600" y="3337560"/>
            <a:ext cx="3840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Real students. Real teacher. Real stakes. The alpha is not a demo — it's live classroom validation before any school pays a dollar.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45720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Market Opportunity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"/>
          <p:cNvSpPr/>
          <p:nvPr/>
        </p:nvSpPr>
        <p:spPr>
          <a:xfrm>
            <a:off x="457200" y="804600"/>
            <a:ext cx="1096920" cy="543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365760" y="1188720"/>
            <a:ext cx="2742840" cy="11883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365760" y="128016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50M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365760" y="19202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US K-12 Students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3246120" y="1188720"/>
            <a:ext cx="2742840" cy="11883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3246120" y="128016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3.5M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3246120" y="19202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US K-12 Teachers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8"/>
          <p:cNvSpPr/>
          <p:nvPr/>
        </p:nvSpPr>
        <p:spPr>
          <a:xfrm>
            <a:off x="6126480" y="1188720"/>
            <a:ext cx="2742840" cy="11883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9"/>
          <p:cNvSpPr/>
          <p:nvPr/>
        </p:nvSpPr>
        <p:spPr>
          <a:xfrm>
            <a:off x="6126480" y="128016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$28B+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6126480" y="19202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US EdTech Market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1"/>
          <p:cNvSpPr/>
          <p:nvPr/>
        </p:nvSpPr>
        <p:spPr>
          <a:xfrm>
            <a:off x="365760" y="2606040"/>
            <a:ext cx="8412120" cy="2194200"/>
          </a:xfrm>
          <a:prstGeom prst="rect">
            <a:avLst/>
          </a:prstGeom>
          <a:solidFill>
            <a:srgbClr val="162040"/>
          </a:solidFill>
          <a:ln w="12700">
            <a:solidFill>
              <a:srgbClr val="3a7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594360" y="2697480"/>
            <a:ext cx="7954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The Math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594360" y="31546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1% of US students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3840480" y="315468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500,000 students × $5/year = $2.5M ARR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594360" y="36576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 district contracts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6"/>
          <p:cNvSpPr/>
          <p:nvPr/>
        </p:nvSpPr>
        <p:spPr>
          <a:xfrm>
            <a:off x="3840480" y="365760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10 × $25K/year = $250K ARR — reachable by Year 3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7"/>
          <p:cNvSpPr/>
          <p:nvPr/>
        </p:nvSpPr>
        <p:spPr>
          <a:xfrm>
            <a:off x="594360" y="41605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EdTech SaaS multiples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8"/>
          <p:cNvSpPr/>
          <p:nvPr/>
        </p:nvSpPr>
        <p:spPr>
          <a:xfrm>
            <a:off x="3840480" y="416052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6–8x ARR is standard for K-12 platforms with teacher distribution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5720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Business Model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"/>
          <p:cNvSpPr/>
          <p:nvPr/>
        </p:nvSpPr>
        <p:spPr>
          <a:xfrm>
            <a:off x="457200" y="804600"/>
            <a:ext cx="1096920" cy="543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365760" y="960120"/>
            <a:ext cx="2697120" cy="384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"/>
          <p:cNvSpPr/>
          <p:nvPr/>
        </p:nvSpPr>
        <p:spPr>
          <a:xfrm>
            <a:off x="365760" y="960120"/>
            <a:ext cx="2697120" cy="127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502920" y="114300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Free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502920" y="150876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$0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6"/>
          <p:cNvSpPr/>
          <p:nvPr/>
        </p:nvSpPr>
        <p:spPr>
          <a:xfrm>
            <a:off x="502920" y="2011680"/>
            <a:ext cx="2422800" cy="180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0" descr="preencoded.png"/>
          <p:cNvPicPr/>
          <p:nvPr/>
        </p:nvPicPr>
        <p:blipFill>
          <a:blip r:embed="rId1"/>
          <a:stretch/>
        </p:blipFill>
        <p:spPr>
          <a:xfrm>
            <a:off x="502920" y="21488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7"/>
          <p:cNvSpPr/>
          <p:nvPr/>
        </p:nvSpPr>
        <p:spPr>
          <a:xfrm>
            <a:off x="777240" y="213048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Classroom creation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1" descr="preencoded.png"/>
          <p:cNvPicPr/>
          <p:nvPr/>
        </p:nvPicPr>
        <p:blipFill>
          <a:blip r:embed="rId2"/>
          <a:stretch/>
        </p:blipFill>
        <p:spPr>
          <a:xfrm>
            <a:off x="502920" y="26517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8"/>
          <p:cNvSpPr/>
          <p:nvPr/>
        </p:nvSpPr>
        <p:spPr>
          <a:xfrm>
            <a:off x="777240" y="263340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Lessons &amp; assignments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2" descr="preencoded.png"/>
          <p:cNvPicPr/>
          <p:nvPr/>
        </p:nvPicPr>
        <p:blipFill>
          <a:blip r:embed="rId3"/>
          <a:stretch/>
        </p:blipFill>
        <p:spPr>
          <a:xfrm>
            <a:off x="502920" y="315468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9"/>
          <p:cNvSpPr/>
          <p:nvPr/>
        </p:nvSpPr>
        <p:spPr>
          <a:xfrm>
            <a:off x="777240" y="313632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Student feed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3" descr="preencoded.png"/>
          <p:cNvPicPr/>
          <p:nvPr/>
        </p:nvPicPr>
        <p:blipFill>
          <a:blip r:embed="rId4"/>
          <a:stretch/>
        </p:blipFill>
        <p:spPr>
          <a:xfrm>
            <a:off x="502920" y="36576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10"/>
          <p:cNvSpPr/>
          <p:nvPr/>
        </p:nvSpPr>
        <p:spPr>
          <a:xfrm>
            <a:off x="777240" y="363924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Basic moderation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1"/>
          <p:cNvSpPr/>
          <p:nvPr/>
        </p:nvSpPr>
        <p:spPr>
          <a:xfrm>
            <a:off x="3227760" y="960120"/>
            <a:ext cx="2697120" cy="384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2"/>
          <p:cNvSpPr/>
          <p:nvPr/>
        </p:nvSpPr>
        <p:spPr>
          <a:xfrm>
            <a:off x="3227760" y="960120"/>
            <a:ext cx="2697120" cy="1278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3364920" y="114300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Pro Teacher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3364920" y="150876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a56a0"/>
                </a:solidFill>
                <a:effectLst/>
                <a:uFillTx/>
                <a:latin typeface="Calibri"/>
                <a:ea typeface="Calibri"/>
              </a:rPr>
              <a:t>$15/mo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3364920" y="2011680"/>
            <a:ext cx="2422800" cy="180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4" descr="preencoded.png"/>
          <p:cNvPicPr/>
          <p:nvPr/>
        </p:nvPicPr>
        <p:blipFill>
          <a:blip r:embed="rId5"/>
          <a:stretch/>
        </p:blipFill>
        <p:spPr>
          <a:xfrm>
            <a:off x="3364920" y="21488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 16"/>
          <p:cNvSpPr/>
          <p:nvPr/>
        </p:nvSpPr>
        <p:spPr>
          <a:xfrm>
            <a:off x="3639240" y="213048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Advanced analytics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5" descr="preencoded.png"/>
          <p:cNvPicPr/>
          <p:nvPr/>
        </p:nvPicPr>
        <p:blipFill>
          <a:blip r:embed="rId6"/>
          <a:stretch/>
        </p:blipFill>
        <p:spPr>
          <a:xfrm>
            <a:off x="3364920" y="26517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17"/>
          <p:cNvSpPr/>
          <p:nvPr/>
        </p:nvSpPr>
        <p:spPr>
          <a:xfrm>
            <a:off x="3639240" y="263340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Lesson templates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age 6" descr="preencoded.png"/>
          <p:cNvPicPr/>
          <p:nvPr/>
        </p:nvPicPr>
        <p:blipFill>
          <a:blip r:embed="rId7"/>
          <a:stretch/>
        </p:blipFill>
        <p:spPr>
          <a:xfrm>
            <a:off x="3364920" y="315468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18"/>
          <p:cNvSpPr/>
          <p:nvPr/>
        </p:nvSpPr>
        <p:spPr>
          <a:xfrm>
            <a:off x="3639240" y="313632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Student tracking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7" descr="preencoded.png"/>
          <p:cNvPicPr/>
          <p:nvPr/>
        </p:nvPicPr>
        <p:blipFill>
          <a:blip r:embed="rId8"/>
          <a:stretch/>
        </p:blipFill>
        <p:spPr>
          <a:xfrm>
            <a:off x="3364920" y="36576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19"/>
          <p:cNvSpPr/>
          <p:nvPr/>
        </p:nvSpPr>
        <p:spPr>
          <a:xfrm>
            <a:off x="3639240" y="363924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AI lesson suggestions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0"/>
          <p:cNvSpPr/>
          <p:nvPr/>
        </p:nvSpPr>
        <p:spPr>
          <a:xfrm>
            <a:off x="6089760" y="960120"/>
            <a:ext cx="2697120" cy="384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1"/>
          <p:cNvSpPr/>
          <p:nvPr/>
        </p:nvSpPr>
        <p:spPr>
          <a:xfrm>
            <a:off x="6089760" y="960120"/>
            <a:ext cx="2697120" cy="127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2"/>
          <p:cNvSpPr/>
          <p:nvPr/>
        </p:nvSpPr>
        <p:spPr>
          <a:xfrm>
            <a:off x="6226920" y="114300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School Plan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3"/>
          <p:cNvSpPr/>
          <p:nvPr/>
        </p:nvSpPr>
        <p:spPr>
          <a:xfrm>
            <a:off x="6226920" y="150876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$5/student/yr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4"/>
          <p:cNvSpPr/>
          <p:nvPr/>
        </p:nvSpPr>
        <p:spPr>
          <a:xfrm>
            <a:off x="6226920" y="2011680"/>
            <a:ext cx="2422800" cy="180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8" descr="preencoded.png"/>
          <p:cNvPicPr/>
          <p:nvPr/>
        </p:nvPicPr>
        <p:blipFill>
          <a:blip r:embed="rId9"/>
          <a:stretch/>
        </p:blipFill>
        <p:spPr>
          <a:xfrm>
            <a:off x="6226920" y="21488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25"/>
          <p:cNvSpPr/>
          <p:nvPr/>
        </p:nvSpPr>
        <p:spPr>
          <a:xfrm>
            <a:off x="6501240" y="213048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Admin dashboard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9" descr="preencoded.png"/>
          <p:cNvPicPr/>
          <p:nvPr/>
        </p:nvPicPr>
        <p:blipFill>
          <a:blip r:embed="rId10"/>
          <a:stretch/>
        </p:blipFill>
        <p:spPr>
          <a:xfrm>
            <a:off x="6226920" y="26517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26"/>
          <p:cNvSpPr/>
          <p:nvPr/>
        </p:nvSpPr>
        <p:spPr>
          <a:xfrm>
            <a:off x="6501240" y="263340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LMS integration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10" descr="preencoded.png"/>
          <p:cNvPicPr/>
          <p:nvPr/>
        </p:nvPicPr>
        <p:blipFill>
          <a:blip r:embed="rId11"/>
          <a:stretch/>
        </p:blipFill>
        <p:spPr>
          <a:xfrm>
            <a:off x="6226920" y="315468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27"/>
          <p:cNvSpPr/>
          <p:nvPr/>
        </p:nvSpPr>
        <p:spPr>
          <a:xfrm>
            <a:off x="6501240" y="313632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Priority support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11" descr="preencoded.png"/>
          <p:cNvPicPr/>
          <p:nvPr/>
        </p:nvPicPr>
        <p:blipFill>
          <a:blip r:embed="rId12"/>
          <a:stretch/>
        </p:blipFill>
        <p:spPr>
          <a:xfrm>
            <a:off x="6226920" y="36576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28"/>
          <p:cNvSpPr/>
          <p:nvPr/>
        </p:nvSpPr>
        <p:spPr>
          <a:xfrm>
            <a:off x="6501240" y="363924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District scalability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9"/>
          <p:cNvSpPr/>
          <p:nvPr/>
        </p:nvSpPr>
        <p:spPr>
          <a:xfrm>
            <a:off x="365760" y="4663440"/>
            <a:ext cx="8412120" cy="347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0"/>
          <p:cNvSpPr/>
          <p:nvPr/>
        </p:nvSpPr>
        <p:spPr>
          <a:xfrm>
            <a:off x="365760" y="46634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Free drives adoption → Pro converts power users → School Plan is the revenue engine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45720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Competitive Landscape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"/>
          <p:cNvSpPr/>
          <p:nvPr/>
        </p:nvSpPr>
        <p:spPr>
          <a:xfrm>
            <a:off x="457200" y="804600"/>
            <a:ext cx="1096920" cy="543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0" name="Table 0"/>
          <p:cNvGraphicFramePr/>
          <p:nvPr/>
        </p:nvGraphicFramePr>
        <p:xfrm>
          <a:off x="365760" y="960120"/>
          <a:ext cx="8640720" cy="3328200"/>
        </p:xfrm>
        <a:graphic>
          <a:graphicData uri="http://schemas.openxmlformats.org/drawingml/2006/table">
            <a:tbl>
              <a:tblPr/>
              <a:tblGrid>
                <a:gridCol w="2011680"/>
                <a:gridCol w="1325880"/>
                <a:gridCol w="1325880"/>
                <a:gridCol w="1325880"/>
                <a:gridCol w="1325880"/>
                <a:gridCol w="1325880"/>
              </a:tblGrid>
              <a:tr h="475200">
                <a:tc>
                  <a:txBody>
                    <a:bodyPr anchor="ctr">
                      <a:noAutofit/>
                    </a:bodyPr>
                    <a:p>
                      <a:endParaRPr b="0" lang="en-US" sz="1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d1b3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⚡</a:t>
                      </a:r>
                      <a:r>
                        <a:rPr b="1" lang="en-US" sz="1100" strike="noStrike" u="none">
                          <a:solidFill>
                            <a:srgbClr val="0d1b3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SparK 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d1b3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Google Classroom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d1b3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ClassDojo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d1b3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Seesaw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d1b3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Discord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COPPA-safe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0b4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4ade8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4ade8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8717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❌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Peer social feed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0b4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8717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❌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8717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❌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8717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❌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4ade8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Teacher moderation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0b4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Limited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4ade8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4ade8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8717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❌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Assignments + grading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0b4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4ade8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8717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❌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Limited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8717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❌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Community / follows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0b4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8717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❌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8717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❌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8717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❌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4ade8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Built for learning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0b4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4ade8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✅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8717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❌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</a:tr>
            </a:tbl>
          </a:graphicData>
        </a:graphic>
      </p:graphicFrame>
      <p:sp>
        <p:nvSpPr>
          <p:cNvPr id="151" name="Shape 2"/>
          <p:cNvSpPr/>
          <p:nvPr/>
        </p:nvSpPr>
        <p:spPr>
          <a:xfrm>
            <a:off x="365760" y="4526280"/>
            <a:ext cx="8412120" cy="4111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"/>
          <p:cNvSpPr/>
          <p:nvPr/>
        </p:nvSpPr>
        <p:spPr>
          <a:xfrm>
            <a:off x="365760" y="452628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SparK is the only platform that is simultaneously COPPA-safe, peer-social, teacher-moderated, and built for learning.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5720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Roadmap to Launch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"/>
          <p:cNvSpPr/>
          <p:nvPr/>
        </p:nvSpPr>
        <p:spPr>
          <a:xfrm>
            <a:off x="457200" y="804600"/>
            <a:ext cx="1096920" cy="543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365760" y="1005840"/>
            <a:ext cx="639720" cy="639720"/>
          </a:xfrm>
          <a:prstGeom prst="rect">
            <a:avLst/>
          </a:prstGeom>
          <a:solidFill>
            <a:srgbClr val="c25b00"/>
          </a:solidFill>
          <a:ln w="12700">
            <a:solidFill>
              <a:srgbClr val="c25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365760" y="100584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 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4"/>
          <p:cNvSpPr/>
          <p:nvPr/>
        </p:nvSpPr>
        <p:spPr>
          <a:xfrm>
            <a:off x="1143000" y="1280160"/>
            <a:ext cx="7634880" cy="180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1143000" y="10058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Now → Q2 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1143000" y="1307520"/>
            <a:ext cx="2285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Safety Core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3520440" y="1307520"/>
            <a:ext cx="5303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Moderation queue · User blocking · Content filtering · COPPA ToS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8"/>
          <p:cNvSpPr/>
          <p:nvPr/>
        </p:nvSpPr>
        <p:spPr>
          <a:xfrm>
            <a:off x="365760" y="1810440"/>
            <a:ext cx="639720" cy="63972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9"/>
          <p:cNvSpPr/>
          <p:nvPr/>
        </p:nvSpPr>
        <p:spPr>
          <a:xfrm>
            <a:off x="365760" y="181044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 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0"/>
          <p:cNvSpPr/>
          <p:nvPr/>
        </p:nvSpPr>
        <p:spPr>
          <a:xfrm>
            <a:off x="1143000" y="2084760"/>
            <a:ext cx="7634880" cy="180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1"/>
          <p:cNvSpPr/>
          <p:nvPr/>
        </p:nvSpPr>
        <p:spPr>
          <a:xfrm>
            <a:off x="1143000" y="18104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Q2 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2"/>
          <p:cNvSpPr/>
          <p:nvPr/>
        </p:nvSpPr>
        <p:spPr>
          <a:xfrm>
            <a:off x="1143000" y="2112120"/>
            <a:ext cx="2285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Alpha / Closed Beta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3"/>
          <p:cNvSpPr/>
          <p:nvPr/>
        </p:nvSpPr>
        <p:spPr>
          <a:xfrm>
            <a:off x="3520440" y="2112120"/>
            <a:ext cx="5303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Single classroom · Teacher feedback · UX iteration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4"/>
          <p:cNvSpPr/>
          <p:nvPr/>
        </p:nvSpPr>
        <p:spPr>
          <a:xfrm>
            <a:off x="365760" y="2615040"/>
            <a:ext cx="639720" cy="6397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5"/>
          <p:cNvSpPr/>
          <p:nvPr/>
        </p:nvSpPr>
        <p:spPr>
          <a:xfrm>
            <a:off x="365760" y="261504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6"/>
          <p:cNvSpPr/>
          <p:nvPr/>
        </p:nvSpPr>
        <p:spPr>
          <a:xfrm>
            <a:off x="1143000" y="2889360"/>
            <a:ext cx="7634880" cy="180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7"/>
          <p:cNvSpPr/>
          <p:nvPr/>
        </p:nvSpPr>
        <p:spPr>
          <a:xfrm>
            <a:off x="1143000" y="26150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Q3 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8"/>
          <p:cNvSpPr/>
          <p:nvPr/>
        </p:nvSpPr>
        <p:spPr>
          <a:xfrm>
            <a:off x="1143000" y="2917080"/>
            <a:ext cx="2285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Trust &amp; Verification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9"/>
          <p:cNvSpPr/>
          <p:nvPr/>
        </p:nvSpPr>
        <p:spPr>
          <a:xfrm>
            <a:off x="3520440" y="2917080"/>
            <a:ext cx="5303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Email verify · Admin dashboard · Parent visibility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0"/>
          <p:cNvSpPr/>
          <p:nvPr/>
        </p:nvSpPr>
        <p:spPr>
          <a:xfrm>
            <a:off x="365760" y="3420000"/>
            <a:ext cx="639720" cy="6397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1"/>
          <p:cNvSpPr/>
          <p:nvPr/>
        </p:nvSpPr>
        <p:spPr>
          <a:xfrm>
            <a:off x="365760" y="34200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 4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2"/>
          <p:cNvSpPr/>
          <p:nvPr/>
        </p:nvSpPr>
        <p:spPr>
          <a:xfrm>
            <a:off x="1143000" y="3694320"/>
            <a:ext cx="7634880" cy="180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3"/>
          <p:cNvSpPr/>
          <p:nvPr/>
        </p:nvSpPr>
        <p:spPr>
          <a:xfrm>
            <a:off x="1143000" y="34200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Q4 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4"/>
          <p:cNvSpPr/>
          <p:nvPr/>
        </p:nvSpPr>
        <p:spPr>
          <a:xfrm>
            <a:off x="1143000" y="3721680"/>
            <a:ext cx="2285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Public Launch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5"/>
          <p:cNvSpPr/>
          <p:nvPr/>
        </p:nvSpPr>
        <p:spPr>
          <a:xfrm>
            <a:off x="3520440" y="3721680"/>
            <a:ext cx="5303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Onboarding · Mentions · Badges · Landing page · Data export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6"/>
          <p:cNvSpPr/>
          <p:nvPr/>
        </p:nvSpPr>
        <p:spPr>
          <a:xfrm>
            <a:off x="365760" y="4224600"/>
            <a:ext cx="639720" cy="639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7"/>
          <p:cNvSpPr/>
          <p:nvPr/>
        </p:nvSpPr>
        <p:spPr>
          <a:xfrm>
            <a:off x="365760" y="42246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 5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8"/>
          <p:cNvSpPr/>
          <p:nvPr/>
        </p:nvSpPr>
        <p:spPr>
          <a:xfrm>
            <a:off x="1143000" y="4498920"/>
            <a:ext cx="7634880" cy="180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9"/>
          <p:cNvSpPr/>
          <p:nvPr/>
        </p:nvSpPr>
        <p:spPr>
          <a:xfrm>
            <a:off x="1143000" y="42246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2026+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0"/>
          <p:cNvSpPr/>
          <p:nvPr/>
        </p:nvSpPr>
        <p:spPr>
          <a:xfrm>
            <a:off x="1143000" y="4526280"/>
            <a:ext cx="2285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Scale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1"/>
          <p:cNvSpPr/>
          <p:nvPr/>
        </p:nvSpPr>
        <p:spPr>
          <a:xfrm>
            <a:off x="3520440" y="4526280"/>
            <a:ext cx="5303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Audit logs · DB backups · Feature flags · PostgreSQL migration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/>
          <p:nvPr/>
        </p:nvSpPr>
        <p:spPr>
          <a:xfrm>
            <a:off x="45720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Financial Projections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"/>
          <p:cNvSpPr/>
          <p:nvPr/>
        </p:nvSpPr>
        <p:spPr>
          <a:xfrm>
            <a:off x="457200" y="804600"/>
            <a:ext cx="1096920" cy="543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7" name="Chart 0"/>
          <p:cNvGraphicFramePr/>
          <p:nvPr/>
        </p:nvGraphicFramePr>
        <p:xfrm>
          <a:off x="365760" y="960120"/>
          <a:ext cx="4388760" cy="384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88" name="Table 0"/>
          <p:cNvGraphicFramePr/>
          <p:nvPr/>
        </p:nvGraphicFramePr>
        <p:xfrm>
          <a:off x="4846320" y="960120"/>
          <a:ext cx="3931560" cy="2377080"/>
        </p:xfrm>
        <a:graphic>
          <a:graphicData uri="http://schemas.openxmlformats.org/drawingml/2006/table">
            <a:tbl>
              <a:tblPr/>
              <a:tblGrid>
                <a:gridCol w="1554480"/>
                <a:gridCol w="594360"/>
                <a:gridCol w="594360"/>
                <a:gridCol w="594360"/>
                <a:gridCol w="594360"/>
              </a:tblGrid>
              <a:tr h="475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d1b3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Metricd</a:t>
                      </a:r>
                      <a:endParaRPr b="1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d1b3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Yr 1</a:t>
                      </a:r>
                      <a:endParaRPr b="1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d1b3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Yr 2</a:t>
                      </a:r>
                      <a:endParaRPr b="1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d1b3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Yr 3</a:t>
                      </a:r>
                      <a:endParaRPr b="1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d1b3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Yr 4</a:t>
                      </a:r>
                      <a:endParaRPr b="1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Free Teachers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500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2K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6K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 Subscribers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75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900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162040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School Students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500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5K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6e4f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25K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0d1b3e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0b4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Total ARR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0b4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$1K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0b4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$11K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0b4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$61K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0b4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$233K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1e3a6e"/>
                      </a:solidFill>
                      <a:prstDash val="solid"/>
                    </a:lnL>
                    <a:lnR w="12240">
                      <a:solidFill>
                        <a:srgbClr val="1e3a6e"/>
                      </a:solidFill>
                      <a:prstDash val="solid"/>
                    </a:lnR>
                    <a:lnT w="12240">
                      <a:solidFill>
                        <a:srgbClr val="1e3a6e"/>
                      </a:solidFill>
                      <a:prstDash val="solid"/>
                    </a:lnT>
                    <a:lnB w="12240">
                      <a:solidFill>
                        <a:srgbClr val="1e3a6e"/>
                      </a:solidFill>
                      <a:prstDash val="solid"/>
                    </a:lnB>
                    <a:solidFill>
                      <a:srgbClr val="162040"/>
                    </a:solidFill>
                  </a:tcPr>
                </a:tc>
              </a:tr>
            </a:tbl>
          </a:graphicData>
        </a:graphic>
      </p:graphicFrame>
      <p:sp>
        <p:nvSpPr>
          <p:cNvPr id="189" name="Text 2"/>
          <p:cNvSpPr/>
          <p:nvPr/>
        </p:nvSpPr>
        <p:spPr>
          <a:xfrm>
            <a:off x="4937760" y="4160520"/>
            <a:ext cx="3840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Conservative Year 1 — goal is product-market fit, not revenue. District contracts drive Year 3+ growth.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45720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Founder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"/>
          <p:cNvSpPr/>
          <p:nvPr/>
        </p:nvSpPr>
        <p:spPr>
          <a:xfrm>
            <a:off x="457200" y="804600"/>
            <a:ext cx="1096920" cy="543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365760" y="960120"/>
            <a:ext cx="4114440" cy="384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548640" y="109728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Why This Problem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548640" y="1554480"/>
            <a:ext cx="37486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Married to a teacher and father of four.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Built tools and trained over 100+ client teams on digital platforms.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Supported over 140 child care locations, sat with families through enrollment, intake, and the hard conversations.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Every job. Every role. One degree from the classroom.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4663440" y="960120"/>
            <a:ext cx="411444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0" descr="preencoded.png"/>
          <p:cNvPicPr/>
          <p:nvPr/>
        </p:nvPicPr>
        <p:blipFill>
          <a:blip r:embed="rId1"/>
          <a:stretch/>
        </p:blipFill>
        <p:spPr>
          <a:xfrm>
            <a:off x="4800600" y="11430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6"/>
          <p:cNvSpPr/>
          <p:nvPr/>
        </p:nvSpPr>
        <p:spPr>
          <a:xfrm>
            <a:off x="5257800" y="105156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Full-Stack Builder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5257800" y="134424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Built SparK's entire stack solo — Flask, SQLite FTS5, WebSockets, Docker, CI/CD, and 185 tests.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8"/>
          <p:cNvSpPr/>
          <p:nvPr/>
        </p:nvSpPr>
        <p:spPr>
          <a:xfrm>
            <a:off x="4663440" y="1920240"/>
            <a:ext cx="411444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1" descr="preencoded.png"/>
          <p:cNvPicPr/>
          <p:nvPr/>
        </p:nvPicPr>
        <p:blipFill>
          <a:blip r:embed="rId2"/>
          <a:stretch/>
        </p:blipFill>
        <p:spPr>
          <a:xfrm>
            <a:off x="4800600" y="21031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9"/>
          <p:cNvSpPr/>
          <p:nvPr/>
        </p:nvSpPr>
        <p:spPr>
          <a:xfrm>
            <a:off x="5257800" y="201168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Personal Stake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0"/>
          <p:cNvSpPr/>
          <p:nvPr/>
        </p:nvSpPr>
        <p:spPr>
          <a:xfrm>
            <a:off x="5257800" y="230436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Would put his own four kids on this platform. That's the safety bar every decision is measured against.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1"/>
          <p:cNvSpPr/>
          <p:nvPr/>
        </p:nvSpPr>
        <p:spPr>
          <a:xfrm>
            <a:off x="4663440" y="2880360"/>
            <a:ext cx="411444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 2" descr="preencoded.png"/>
          <p:cNvPicPr/>
          <p:nvPr/>
        </p:nvPicPr>
        <p:blipFill>
          <a:blip r:embed="rId3"/>
          <a:stretch/>
        </p:blipFill>
        <p:spPr>
          <a:xfrm>
            <a:off x="4800600" y="30632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Text 12"/>
          <p:cNvSpPr/>
          <p:nvPr/>
        </p:nvSpPr>
        <p:spPr>
          <a:xfrm>
            <a:off x="5257800" y="297180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Educator Network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5257800" y="326448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Deep connection to teachers through family and community — product decisions are tested against real classroom realities.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4"/>
          <p:cNvSpPr/>
          <p:nvPr/>
        </p:nvSpPr>
        <p:spPr>
          <a:xfrm>
            <a:off x="4663440" y="3840480"/>
            <a:ext cx="411444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Image 3" descr="preencoded.png"/>
          <p:cNvPicPr/>
          <p:nvPr/>
        </p:nvPicPr>
        <p:blipFill>
          <a:blip r:embed="rId4"/>
          <a:stretch/>
        </p:blipFill>
        <p:spPr>
          <a:xfrm>
            <a:off x="4800600" y="40233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Text 15"/>
          <p:cNvSpPr/>
          <p:nvPr/>
        </p:nvSpPr>
        <p:spPr>
          <a:xfrm>
            <a:off x="5257800" y="393192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Builder Track Record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6"/>
          <p:cNvSpPr/>
          <p:nvPr/>
        </p:nvSpPr>
        <p:spPr>
          <a:xfrm>
            <a:off x="5257800" y="422460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History of shipping software aimed at helping people, not chasing trends or exits.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7"/>
          <p:cNvSpPr/>
          <p:nvPr/>
        </p:nvSpPr>
        <p:spPr>
          <a:xfrm>
            <a:off x="4663440" y="4663440"/>
            <a:ext cx="4114440" cy="347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8"/>
          <p:cNvSpPr/>
          <p:nvPr/>
        </p:nvSpPr>
        <p:spPr>
          <a:xfrm>
            <a:off x="4663440" y="466344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000" strike="noStrike" u="non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This is not a market opportunity identified in a spreadsheet. It is a problem that shows up at the dinner table."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45720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Ask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"/>
          <p:cNvSpPr/>
          <p:nvPr/>
        </p:nvSpPr>
        <p:spPr>
          <a:xfrm>
            <a:off x="457200" y="804600"/>
            <a:ext cx="1096920" cy="543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"/>
          <p:cNvSpPr/>
          <p:nvPr/>
        </p:nvSpPr>
        <p:spPr>
          <a:xfrm>
            <a:off x="365760" y="1005840"/>
            <a:ext cx="8412120" cy="9140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365760" y="100584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Raising $150,000 – $500,000 Pre-Seed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4"/>
          <p:cNvSpPr/>
          <p:nvPr/>
        </p:nvSpPr>
        <p:spPr>
          <a:xfrm>
            <a:off x="365760" y="2148840"/>
            <a:ext cx="3977280" cy="1234080"/>
          </a:xfrm>
          <a:prstGeom prst="rect">
            <a:avLst/>
          </a:prstGeom>
          <a:solidFill>
            <a:srgbClr val="162040"/>
          </a:solidFill>
          <a:ln w="12700">
            <a:solidFill>
              <a:srgbClr val="1a56a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5"/>
          <p:cNvSpPr/>
          <p:nvPr/>
        </p:nvSpPr>
        <p:spPr>
          <a:xfrm>
            <a:off x="365760" y="2148840"/>
            <a:ext cx="109440" cy="12340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594360" y="224028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a56a0"/>
                </a:solidFill>
                <a:effectLst/>
                <a:uFillTx/>
                <a:latin typeface="Calibri"/>
                <a:ea typeface="Calibri"/>
              </a:rPr>
              <a:t>35%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7"/>
          <p:cNvSpPr/>
          <p:nvPr/>
        </p:nvSpPr>
        <p:spPr>
          <a:xfrm>
            <a:off x="1554480" y="224028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Product &amp; Safety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594360" y="2697480"/>
            <a:ext cx="3611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Complete Phase 1 safety features before any public users touch the platform.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9"/>
          <p:cNvSpPr/>
          <p:nvPr/>
        </p:nvSpPr>
        <p:spPr>
          <a:xfrm>
            <a:off x="4617720" y="2148840"/>
            <a:ext cx="3977280" cy="1234080"/>
          </a:xfrm>
          <a:prstGeom prst="rect">
            <a:avLst/>
          </a:prstGeom>
          <a:solidFill>
            <a:srgbClr val="162040"/>
          </a:solidFill>
          <a:ln w="12700">
            <a:solidFill>
              <a:srgbClr val="3a7bd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0"/>
          <p:cNvSpPr/>
          <p:nvPr/>
        </p:nvSpPr>
        <p:spPr>
          <a:xfrm>
            <a:off x="4617720" y="2148840"/>
            <a:ext cx="109440" cy="123408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1"/>
          <p:cNvSpPr/>
          <p:nvPr/>
        </p:nvSpPr>
        <p:spPr>
          <a:xfrm>
            <a:off x="4846320" y="224028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3a7bd5"/>
                </a:solidFill>
                <a:effectLst/>
                <a:uFillTx/>
                <a:latin typeface="Calibri"/>
                <a:ea typeface="Calibri"/>
              </a:rPr>
              <a:t>30%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2"/>
          <p:cNvSpPr/>
          <p:nvPr/>
        </p:nvSpPr>
        <p:spPr>
          <a:xfrm>
            <a:off x="5806440" y="224028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Founder Salary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3"/>
          <p:cNvSpPr/>
          <p:nvPr/>
        </p:nvSpPr>
        <p:spPr>
          <a:xfrm>
            <a:off x="4846320" y="2697480"/>
            <a:ext cx="3611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18 months of full-time focus. Sustainable pace = sustained execution.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4"/>
          <p:cNvSpPr/>
          <p:nvPr/>
        </p:nvSpPr>
        <p:spPr>
          <a:xfrm>
            <a:off x="365760" y="3566160"/>
            <a:ext cx="3977280" cy="1234080"/>
          </a:xfrm>
          <a:prstGeom prst="rect">
            <a:avLst/>
          </a:prstGeom>
          <a:solidFill>
            <a:srgbClr val="162040"/>
          </a:solidFill>
          <a:ln w="12700">
            <a:solidFill>
              <a:srgbClr val="1a7a4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5"/>
          <p:cNvSpPr/>
          <p:nvPr/>
        </p:nvSpPr>
        <p:spPr>
          <a:xfrm>
            <a:off x="365760" y="3566160"/>
            <a:ext cx="109440" cy="12340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6"/>
          <p:cNvSpPr/>
          <p:nvPr/>
        </p:nvSpPr>
        <p:spPr>
          <a:xfrm>
            <a:off x="594360" y="365760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25%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7"/>
          <p:cNvSpPr/>
          <p:nvPr/>
        </p:nvSpPr>
        <p:spPr>
          <a:xfrm>
            <a:off x="1554480" y="365760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Customer Development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8"/>
          <p:cNvSpPr/>
          <p:nvPr/>
        </p:nvSpPr>
        <p:spPr>
          <a:xfrm>
            <a:off x="594360" y="4114800"/>
            <a:ext cx="3611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Teacher outreach, alpha recruitment, conference presence (ISTE, SXSWedu).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9"/>
          <p:cNvSpPr/>
          <p:nvPr/>
        </p:nvSpPr>
        <p:spPr>
          <a:xfrm>
            <a:off x="4617720" y="3566160"/>
            <a:ext cx="3977280" cy="1234080"/>
          </a:xfrm>
          <a:prstGeom prst="rect">
            <a:avLst/>
          </a:prstGeom>
          <a:solidFill>
            <a:srgbClr val="162040"/>
          </a:solidFill>
          <a:ln w="12700">
            <a:solidFill>
              <a:srgbClr val="c25b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0"/>
          <p:cNvSpPr/>
          <p:nvPr/>
        </p:nvSpPr>
        <p:spPr>
          <a:xfrm>
            <a:off x="4617720" y="3566160"/>
            <a:ext cx="109440" cy="1234080"/>
          </a:xfrm>
          <a:prstGeom prst="rect">
            <a:avLst/>
          </a:prstGeom>
          <a:solidFill>
            <a:srgbClr val="c25b00"/>
          </a:solidFill>
          <a:ln w="12700">
            <a:solidFill>
              <a:srgbClr val="c25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1"/>
          <p:cNvSpPr/>
          <p:nvPr/>
        </p:nvSpPr>
        <p:spPr>
          <a:xfrm>
            <a:off x="4846320" y="365760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c25b00"/>
                </a:solidFill>
                <a:effectLst/>
                <a:uFillTx/>
                <a:latin typeface="Calibri"/>
                <a:ea typeface="Calibri"/>
              </a:rPr>
              <a:t>10%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2"/>
          <p:cNvSpPr/>
          <p:nvPr/>
        </p:nvSpPr>
        <p:spPr>
          <a:xfrm>
            <a:off x="5806440" y="365760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Infrastructure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3"/>
          <p:cNvSpPr/>
          <p:nvPr/>
        </p:nvSpPr>
        <p:spPr>
          <a:xfrm>
            <a:off x="4846320" y="4114800"/>
            <a:ext cx="3611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Production hosting, security review, backups. Non-negotiable for a platform handling kids' data.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4"/>
          <p:cNvSpPr/>
          <p:nvPr/>
        </p:nvSpPr>
        <p:spPr>
          <a:xfrm>
            <a:off x="365760" y="480060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36 months of runway  ·  Alpha → 100 teachers → first school contracts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" name="Image 0" descr="preencoded.png"/>
          <p:cNvPicPr/>
          <p:nvPr/>
        </p:nvPicPr>
        <p:blipFill>
          <a:blip r:embed="rId1"/>
          <a:stretch/>
        </p:blipFill>
        <p:spPr>
          <a:xfrm>
            <a:off x="502920" y="73152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 1"/>
          <p:cNvSpPr/>
          <p:nvPr/>
        </p:nvSpPr>
        <p:spPr>
          <a:xfrm>
            <a:off x="1280160" y="685800"/>
            <a:ext cx="6400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SparK</a:t>
            </a:r>
            <a:endParaRPr b="0" lang="en-US" sz="5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"/>
          <p:cNvSpPr/>
          <p:nvPr/>
        </p:nvSpPr>
        <p:spPr>
          <a:xfrm>
            <a:off x="1280160" y="14630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Where curiosity meets community.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3"/>
          <p:cNvSpPr/>
          <p:nvPr/>
        </p:nvSpPr>
        <p:spPr>
          <a:xfrm>
            <a:off x="1280160" y="2057400"/>
            <a:ext cx="5028840" cy="3636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1280160" y="2240280"/>
            <a:ext cx="6857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The platform is built. The safety architecture is in place.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The alpha classroom starts Q2 2026.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What's needed now is the right partner.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5"/>
          <p:cNvSpPr/>
          <p:nvPr/>
        </p:nvSpPr>
        <p:spPr>
          <a:xfrm>
            <a:off x="1280160" y="3520440"/>
            <a:ext cx="5028840" cy="1279800"/>
          </a:xfrm>
          <a:prstGeom prst="rect">
            <a:avLst/>
          </a:prstGeom>
          <a:solidFill>
            <a:srgbClr val="162040"/>
          </a:solidFill>
          <a:ln w="12700">
            <a:solidFill>
              <a:srgbClr val="3a7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1463040" y="361188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Get in Touch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7"/>
          <p:cNvSpPr/>
          <p:nvPr/>
        </p:nvSpPr>
        <p:spPr>
          <a:xfrm>
            <a:off x="1463040" y="397764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[Your Name]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8"/>
          <p:cNvSpPr/>
          <p:nvPr/>
        </p:nvSpPr>
        <p:spPr>
          <a:xfrm>
            <a:off x="1463040" y="425196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6e4f7"/>
                </a:solidFill>
                <a:effectLst/>
                <a:uFillTx/>
                <a:latin typeface="Calibri"/>
                <a:ea typeface="Calibri"/>
              </a:rPr>
              <a:t>[your@email.com]  ·  [phone]  ·  [website]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9"/>
          <p:cNvSpPr/>
          <p:nvPr/>
        </p:nvSpPr>
        <p:spPr>
          <a:xfrm>
            <a:off x="1280160" y="484632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Confidential  ·  Q2 2026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LibreOffice/25.2.2.2$Linux_X86_64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2026-03-19T16:21:05Z</dcterms:created>
  <dc:creator>PptxGenJS</dc:creator>
  <dc:description/>
  <dc:language>en-US</dc:language>
  <cp:lastModifiedBy/>
  <dcterms:modified xsi:type="dcterms:W3CDTF">2026-03-19T16:50:00Z</dcterms:modified>
  <cp:revision>2</cp:revision>
  <dc:subject>PptxGenJS Presentation</dc:subject>
  <dc:title>SparK — Investor Pitch Deck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